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6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94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438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EF79FD-F991-4F02-AEC2-C513767F8A0E}" type="datetimeFigureOut">
              <a:rPr lang="en-IN" smtClean="0"/>
              <a:t>04-09-2026</a:t>
            </a:fld>
            <a:endParaRPr lang="en-IN"/>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E0CDD0-54E0-4186-9924-BD89482B0DA0}" type="slidenum">
              <a:rPr lang="en-IN" smtClean="0"/>
              <a:t>‹#›</a:t>
            </a:fld>
            <a:endParaRPr lang="en-IN"/>
          </a:p>
        </p:txBody>
      </p:sp>
    </p:spTree>
    <p:extLst>
      <p:ext uri="{BB962C8B-B14F-4D97-AF65-F5344CB8AC3E}">
        <p14:creationId xmlns:p14="http://schemas.microsoft.com/office/powerpoint/2010/main" val="3221839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24F07C-BA00-4C5B-89DC-AE4FBBFFD4F5}" type="datetimeFigureOut">
              <a:rPr lang="en-IN" smtClean="0"/>
              <a:t>04-09-2026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3919887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4F07C-BA00-4C5B-89DC-AE4FBBFFD4F5}" type="datetimeFigureOut">
              <a:rPr lang="en-IN" smtClean="0"/>
              <a:t>04-09-2026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164157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4F07C-BA00-4C5B-89DC-AE4FBBFFD4F5}" type="datetimeFigureOut">
              <a:rPr lang="en-IN" smtClean="0"/>
              <a:t>04-09-2026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1631882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24F07C-BA00-4C5B-89DC-AE4FBBFFD4F5}" type="datetimeFigureOut">
              <a:rPr lang="en-IN" smtClean="0"/>
              <a:t>04-09-2026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143326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24F07C-BA00-4C5B-89DC-AE4FBBFFD4F5}" type="datetimeFigureOut">
              <a:rPr lang="en-IN" smtClean="0"/>
              <a:t>04-09-2026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1151113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24F07C-BA00-4C5B-89DC-AE4FBBFFD4F5}" type="datetimeFigureOut">
              <a:rPr lang="en-IN" smtClean="0"/>
              <a:t>04-09-2026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16380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24F07C-BA00-4C5B-89DC-AE4FBBFFD4F5}" type="datetimeFigureOut">
              <a:rPr lang="en-IN" smtClean="0"/>
              <a:t>04-09-2026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3346375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724F07C-BA00-4C5B-89DC-AE4FBBFFD4F5}" type="datetimeFigureOut">
              <a:rPr lang="en-IN" smtClean="0"/>
              <a:t>04-09-2026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1788955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724F07C-BA00-4C5B-89DC-AE4FBBFFD4F5}" type="datetimeFigureOut">
              <a:rPr lang="en-IN" smtClean="0"/>
              <a:t>04-09-2026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392517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4F07C-BA00-4C5B-89DC-AE4FBBFFD4F5}" type="datetimeFigureOut">
              <a:rPr lang="en-IN" smtClean="0"/>
              <a:t>04-09-2026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1258601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4F07C-BA00-4C5B-89DC-AE4FBBFFD4F5}" type="datetimeFigureOut">
              <a:rPr lang="en-IN" smtClean="0"/>
              <a:t>04-09-2026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87944D-6255-440C-AF9A-FC8030670D98}" type="slidenum">
              <a:rPr lang="en-IN" smtClean="0"/>
              <a:t>‹#›</a:t>
            </a:fld>
            <a:endParaRPr lang="en-IN"/>
          </a:p>
        </p:txBody>
      </p:sp>
    </p:spTree>
    <p:extLst>
      <p:ext uri="{BB962C8B-B14F-4D97-AF65-F5344CB8AC3E}">
        <p14:creationId xmlns:p14="http://schemas.microsoft.com/office/powerpoint/2010/main" val="3343354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8724F07C-BA00-4C5B-89DC-AE4FBBFFD4F5}" type="datetimeFigureOut">
              <a:rPr lang="en-IN" smtClean="0"/>
              <a:t>04-09-2026</a:t>
            </a:fld>
            <a:endParaRPr lang="en-IN"/>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6D87944D-6255-440C-AF9A-FC8030670D98}" type="slidenum">
              <a:rPr lang="en-IN" smtClean="0"/>
              <a:t>‹#›</a:t>
            </a:fld>
            <a:endParaRPr lang="en-IN"/>
          </a:p>
        </p:txBody>
      </p:sp>
    </p:spTree>
    <p:extLst>
      <p:ext uri="{BB962C8B-B14F-4D97-AF65-F5344CB8AC3E}">
        <p14:creationId xmlns:p14="http://schemas.microsoft.com/office/powerpoint/2010/main" val="1364220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youtu.be/4laH2RzzHyg?si=M6GnbYUQmk_d10ox" TargetMode="External"/><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youtu.be/4laH2RzzHyg?si=wkrVhJ-j9Bk47nj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90F08-2928-43AC-174E-08729C9DA0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D40B25-7C06-D22B-96DA-8CD0C32342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39425" y="450612"/>
            <a:ext cx="4579143" cy="3052762"/>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7CAC35B0-F5D6-17C3-0648-F6EA97918DB1}"/>
              </a:ext>
            </a:extLst>
          </p:cNvPr>
          <p:cNvSpPr txBox="1"/>
          <p:nvPr/>
        </p:nvSpPr>
        <p:spPr>
          <a:xfrm>
            <a:off x="141729" y="3759406"/>
            <a:ext cx="6574536" cy="4108817"/>
          </a:xfrm>
          <a:prstGeom prst="rect">
            <a:avLst/>
          </a:prstGeom>
          <a:noFill/>
        </p:spPr>
        <p:txBody>
          <a:bodyPr wrap="square" rtlCol="0">
            <a:spAutoFit/>
          </a:bodyPr>
          <a:lstStyle/>
          <a:p>
            <a:pPr algn="ctr"/>
            <a:r>
              <a:rPr lang="en-US" sz="1400" dirty="0">
                <a:solidFill>
                  <a:schemeClr val="bg1">
                    <a:lumMod val="50000"/>
                  </a:schemeClr>
                </a:solidFill>
                <a:latin typeface="Century Gothic" panose="020B0502020202020204" pitchFamily="34" charset="0"/>
              </a:rPr>
              <a:t>THE BURDEN OF GOODNESS</a:t>
            </a:r>
          </a:p>
          <a:p>
            <a:pPr algn="ctr"/>
            <a:endParaRPr lang="en-US" sz="1400" b="1" dirty="0">
              <a:solidFill>
                <a:schemeClr val="tx1">
                  <a:lumMod val="50000"/>
                  <a:lumOff val="50000"/>
                </a:schemeClr>
              </a:solidFill>
              <a:latin typeface="Century Gothic" panose="020B0502020202020204" pitchFamily="34" charset="0"/>
            </a:endParaRPr>
          </a:p>
          <a:p>
            <a:pPr algn="ctr"/>
            <a:r>
              <a:rPr lang="en-US" sz="1200" i="1" dirty="0">
                <a:latin typeface="Century Gothic" panose="020B0502020202020204" pitchFamily="34" charset="0"/>
              </a:rPr>
              <a:t>Series: Duality1/5</a:t>
            </a:r>
          </a:p>
          <a:p>
            <a:pPr algn="ctr"/>
            <a:r>
              <a:rPr lang="en-US" sz="1200" i="1" dirty="0">
                <a:latin typeface="Century Gothic" panose="020B0502020202020204" pitchFamily="34" charset="0"/>
              </a:rPr>
              <a:t>Medium: Acrylic on Ivory paper</a:t>
            </a:r>
          </a:p>
          <a:p>
            <a:pPr algn="ctr"/>
            <a:r>
              <a:rPr lang="en-US" sz="1200" i="1" dirty="0">
                <a:latin typeface="Century Gothic" panose="020B0502020202020204" pitchFamily="34" charset="0"/>
              </a:rPr>
              <a:t>Size: 56cm x 71cm</a:t>
            </a:r>
          </a:p>
          <a:p>
            <a:pPr algn="ctr"/>
            <a:r>
              <a:rPr lang="en-US" sz="1200" i="1" dirty="0">
                <a:latin typeface="Century Gothic" panose="020B0502020202020204" pitchFamily="34" charset="0"/>
              </a:rPr>
              <a:t>Price: </a:t>
            </a:r>
            <a:r>
              <a:rPr lang="en-IN" sz="1200" i="1" dirty="0">
                <a:latin typeface="Century Gothic" panose="020B0502020202020204" pitchFamily="34" charset="0"/>
              </a:rPr>
              <a:t>₹</a:t>
            </a:r>
            <a:r>
              <a:rPr lang="en-US" sz="1200" i="1" dirty="0">
                <a:latin typeface="Century Gothic" panose="020B0502020202020204" pitchFamily="34" charset="0"/>
              </a:rPr>
              <a:t>250000 INR</a:t>
            </a:r>
          </a:p>
          <a:p>
            <a:pPr algn="ctr"/>
            <a:endParaRPr lang="en-US" sz="1200" dirty="0">
              <a:latin typeface="Century Gothic" panose="020B0502020202020204" pitchFamily="34" charset="0"/>
              <a:hlinkClick r:id="rId3"/>
            </a:endParaRPr>
          </a:p>
          <a:p>
            <a:pPr algn="ctr"/>
            <a:r>
              <a:rPr lang="en-US" sz="1200" dirty="0">
                <a:latin typeface="Century Gothic" panose="020B0502020202020204" pitchFamily="34" charset="0"/>
                <a:hlinkClick r:id="rId4"/>
              </a:rPr>
              <a:t>-: click for artwork process :-</a:t>
            </a:r>
            <a:endParaRPr lang="en-US" sz="1200" dirty="0">
              <a:latin typeface="Century Gothic" panose="020B0502020202020204" pitchFamily="34" charset="0"/>
            </a:endParaRPr>
          </a:p>
          <a:p>
            <a:pPr algn="ctr"/>
            <a:endParaRPr lang="en-US" sz="1200" dirty="0">
              <a:latin typeface="Century Gothic" panose="020B0502020202020204" pitchFamily="34" charset="0"/>
            </a:endParaRPr>
          </a:p>
          <a:p>
            <a:r>
              <a:rPr lang="en-IN" sz="900" dirty="0">
                <a:latin typeface="Century Gothic" panose="020B0502020202020204" pitchFamily="34" charset="0"/>
              </a:rPr>
              <a:t>The Burden of Goodness is a contemplative exploration of morality, pleasure, pain, and the subtle identities we create around them.</a:t>
            </a:r>
          </a:p>
          <a:p>
            <a:r>
              <a:rPr lang="en-IN" sz="900" dirty="0">
                <a:latin typeface="Century Gothic" panose="020B0502020202020204" pitchFamily="34" charset="0"/>
              </a:rPr>
              <a:t>The upper half represents goodness and pleasure—the part of us that knows what it wants and moves toward it. The eyes have pupils, symbolising awareness, direction, and desire. Yet every desire can carry its own attachments: fear, anger, jealousy, pride, and the fear of losing what we seek.</a:t>
            </a:r>
          </a:p>
          <a:p>
            <a:r>
              <a:rPr lang="en-IN" sz="900" dirty="0">
                <a:latin typeface="Century Gothic" panose="020B0502020202020204" pitchFamily="34" charset="0"/>
              </a:rPr>
              <a:t>The lower half represents pain, struggle, and surrender. The eyes have no pupils, suggesting a state that does not seek or grasp. Through struggle, sacrifice, and stepping beyond comfort, attachments can begin to dissolve.</a:t>
            </a:r>
          </a:p>
          <a:p>
            <a:r>
              <a:rPr lang="en-IN" sz="900" dirty="0">
                <a:latin typeface="Century Gothic" panose="020B0502020202020204" pitchFamily="34" charset="0"/>
              </a:rPr>
              <a:t>At the centre is the open eye of consciousness—awareness beyond the labels of good and bad, pleasure and pain.</a:t>
            </a:r>
          </a:p>
          <a:p>
            <a:r>
              <a:rPr lang="en-IN" sz="900" dirty="0">
                <a:latin typeface="Century Gothic" panose="020B0502020202020204" pitchFamily="34" charset="0"/>
              </a:rPr>
              <a:t>The partially closing eyelid becomes the final metaphor. The path from above is obstructed, while below it remains open. It suggests that even the identity of being </a:t>
            </a:r>
            <a:r>
              <a:rPr lang="en-IN" sz="900" i="1" dirty="0">
                <a:latin typeface="Century Gothic" panose="020B0502020202020204" pitchFamily="34" charset="0"/>
              </a:rPr>
              <a:t>good</a:t>
            </a:r>
            <a:r>
              <a:rPr lang="en-IN" sz="900" dirty="0">
                <a:latin typeface="Century Gothic" panose="020B0502020202020204" pitchFamily="34" charset="0"/>
              </a:rPr>
              <a:t>, or the desire for a higher state of awareness, can become another form of attachment.</a:t>
            </a:r>
          </a:p>
          <a:p>
            <a:r>
              <a:rPr lang="en-IN" sz="900" dirty="0">
                <a:latin typeface="Century Gothic" panose="020B0502020202020204" pitchFamily="34" charset="0"/>
              </a:rPr>
              <a:t>The painting ultimately asks: Who are you beyond the need to be good, bad, right, or wrong?</a:t>
            </a:r>
          </a:p>
          <a:p>
            <a:r>
              <a:rPr lang="en-IN" sz="900" dirty="0">
                <a:latin typeface="Century Gothic" panose="020B0502020202020204" pitchFamily="34" charset="0"/>
              </a:rPr>
              <a:t>And perhaps, more subtly: Can awakening be found when there is nothing left to seek?</a:t>
            </a:r>
          </a:p>
          <a:p>
            <a:pPr algn="ctr"/>
            <a:endParaRPr lang="en-IN" sz="1400" b="1" dirty="0">
              <a:solidFill>
                <a:schemeClr val="tx1">
                  <a:lumMod val="50000"/>
                  <a:lumOff val="50000"/>
                </a:schemeClr>
              </a:solidFill>
              <a:latin typeface="Century Gothic" panose="020B0502020202020204" pitchFamily="34" charset="0"/>
            </a:endParaRPr>
          </a:p>
        </p:txBody>
      </p:sp>
      <p:pic>
        <p:nvPicPr>
          <p:cNvPr id="9" name="Picture 8">
            <a:extLst>
              <a:ext uri="{FF2B5EF4-FFF2-40B4-BE49-F238E27FC236}">
                <a16:creationId xmlns:a16="http://schemas.microsoft.com/office/drawing/2014/main" id="{3D7041D2-EFF1-25E0-8760-6FB4B3D3902F}"/>
              </a:ext>
            </a:extLst>
          </p:cNvPr>
          <p:cNvPicPr>
            <a:picLocks noChangeAspect="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224377" y="9091225"/>
            <a:ext cx="409245" cy="578505"/>
          </a:xfrm>
          <a:prstGeom prst="rect">
            <a:avLst/>
          </a:prstGeom>
        </p:spPr>
      </p:pic>
    </p:spTree>
    <p:extLst>
      <p:ext uri="{BB962C8B-B14F-4D97-AF65-F5344CB8AC3E}">
        <p14:creationId xmlns:p14="http://schemas.microsoft.com/office/powerpoint/2010/main" val="13418137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314</TotalTime>
  <Words>269</Words>
  <Application>Microsoft Office PowerPoint</Application>
  <PresentationFormat>A4 Paper (210x297 mm)</PresentationFormat>
  <Paragraphs>16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Century Gothic</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Ambuja Padmaja</dc:creator>
  <cp:lastModifiedBy>SHIVJEET POTDAR</cp:lastModifiedBy>
  <cp:revision>16</cp:revision>
  <dcterms:created xsi:type="dcterms:W3CDTF">2026-06-26T05:03:50Z</dcterms:created>
  <dcterms:modified xsi:type="dcterms:W3CDTF">2026-09-04T12:16:14Z</dcterms:modified>
</cp:coreProperties>
</file>