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105" d="100"/>
          <a:sy n="105" d="100"/>
        </p:scale>
        <p:origin x="438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1385D-754A-4E32-A542-EBBF5A3EA246}"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3023555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1385D-754A-4E32-A542-EBBF5A3EA246}"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3224120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1385D-754A-4E32-A542-EBBF5A3EA246}"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14923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11385D-754A-4E32-A542-EBBF5A3EA246}"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434162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1385D-754A-4E32-A542-EBBF5A3EA246}" type="datetimeFigureOut">
              <a:rPr lang="en-IN" smtClean="0"/>
              <a:t>03-09-2026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1203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11385D-754A-4E32-A542-EBBF5A3EA246}" type="datetimeFigureOut">
              <a:rPr lang="en-IN" smtClean="0"/>
              <a:t>03-09-2026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2911425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1385D-754A-4E32-A542-EBBF5A3EA246}" type="datetimeFigureOut">
              <a:rPr lang="en-IN" smtClean="0"/>
              <a:t>03-09-2026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1823394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11385D-754A-4E32-A542-EBBF5A3EA246}"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315146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11385D-754A-4E32-A542-EBBF5A3EA246}"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651729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1385D-754A-4E32-A542-EBBF5A3EA246}"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1123742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1385D-754A-4E32-A542-EBBF5A3EA246}"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6A8BD77-09B3-4AB3-98E0-D39331824F3D}" type="slidenum">
              <a:rPr lang="en-IN" smtClean="0"/>
              <a:t>‹#›</a:t>
            </a:fld>
            <a:endParaRPr lang="en-IN"/>
          </a:p>
        </p:txBody>
      </p:sp>
    </p:spTree>
    <p:extLst>
      <p:ext uri="{BB962C8B-B14F-4D97-AF65-F5344CB8AC3E}">
        <p14:creationId xmlns:p14="http://schemas.microsoft.com/office/powerpoint/2010/main" val="326794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8C11385D-754A-4E32-A542-EBBF5A3EA246}" type="datetimeFigureOut">
              <a:rPr lang="en-IN" smtClean="0"/>
              <a:t>03-09-2026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16A8BD77-09B3-4AB3-98E0-D39331824F3D}" type="slidenum">
              <a:rPr lang="en-IN" smtClean="0"/>
              <a:t>‹#›</a:t>
            </a:fld>
            <a:endParaRPr lang="en-IN"/>
          </a:p>
        </p:txBody>
      </p:sp>
    </p:spTree>
    <p:extLst>
      <p:ext uri="{BB962C8B-B14F-4D97-AF65-F5344CB8AC3E}">
        <p14:creationId xmlns:p14="http://schemas.microsoft.com/office/powerpoint/2010/main" val="35348989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B9E016-262B-1ED2-0A72-5068D62AF423}"/>
              </a:ext>
            </a:extLst>
          </p:cNvPr>
          <p:cNvSpPr txBox="1"/>
          <p:nvPr/>
        </p:nvSpPr>
        <p:spPr>
          <a:xfrm>
            <a:off x="0" y="411479"/>
            <a:ext cx="6858000" cy="646331"/>
          </a:xfrm>
          <a:prstGeom prst="rect">
            <a:avLst/>
          </a:prstGeom>
          <a:noFill/>
        </p:spPr>
        <p:txBody>
          <a:bodyPr wrap="square" rtlCol="0">
            <a:spAutoFit/>
          </a:bodyPr>
          <a:lstStyle/>
          <a:p>
            <a:pPr algn="ctr"/>
            <a:r>
              <a:rPr lang="en-US" dirty="0">
                <a:latin typeface="Century Gothic" panose="020B0502020202020204" pitchFamily="34" charset="0"/>
              </a:rPr>
              <a:t>ABOUT</a:t>
            </a:r>
          </a:p>
          <a:p>
            <a:endParaRPr lang="en-IN" dirty="0">
              <a:latin typeface="Century Gothic" panose="020B0502020202020204" pitchFamily="34" charset="0"/>
            </a:endParaRPr>
          </a:p>
        </p:txBody>
      </p:sp>
      <p:sp>
        <p:nvSpPr>
          <p:cNvPr id="6" name="TextBox 5">
            <a:extLst>
              <a:ext uri="{FF2B5EF4-FFF2-40B4-BE49-F238E27FC236}">
                <a16:creationId xmlns:a16="http://schemas.microsoft.com/office/drawing/2014/main" id="{631D0A9C-5444-5F0E-8DA0-018319FEC626}"/>
              </a:ext>
            </a:extLst>
          </p:cNvPr>
          <p:cNvSpPr txBox="1"/>
          <p:nvPr/>
        </p:nvSpPr>
        <p:spPr>
          <a:xfrm>
            <a:off x="169164" y="5545503"/>
            <a:ext cx="6373368" cy="3877985"/>
          </a:xfrm>
          <a:prstGeom prst="rect">
            <a:avLst/>
          </a:prstGeom>
          <a:noFill/>
        </p:spPr>
        <p:txBody>
          <a:bodyPr wrap="square" rtlCol="0">
            <a:spAutoFit/>
          </a:bodyPr>
          <a:lstStyle/>
          <a:p>
            <a:r>
              <a:rPr lang="en-IN" sz="1200" b="1" i="1" dirty="0">
                <a:latin typeface="Century Gothic" panose="020B0502020202020204" pitchFamily="34" charset="0"/>
              </a:rPr>
              <a:t>SHIVJEET POTDAR</a:t>
            </a:r>
          </a:p>
          <a:p>
            <a:endParaRPr lang="en-IN" sz="1200" i="1" dirty="0">
              <a:latin typeface="Century Gothic" panose="020B0502020202020204" pitchFamily="34" charset="0"/>
            </a:endParaRPr>
          </a:p>
          <a:p>
            <a:r>
              <a:rPr lang="en-IN" sz="1200" dirty="0">
                <a:latin typeface="Century Gothic" panose="020B0502020202020204" pitchFamily="34" charset="0"/>
              </a:rPr>
              <a:t>Artist. Architect. Production Designer.</a:t>
            </a:r>
          </a:p>
          <a:p>
            <a:endParaRPr lang="en-IN" sz="1200" dirty="0">
              <a:latin typeface="Century Gothic" panose="020B0502020202020204" pitchFamily="34" charset="0"/>
            </a:endParaRPr>
          </a:p>
          <a:p>
            <a:pPr algn="just"/>
            <a:r>
              <a:rPr lang="en-IN" sz="1200" dirty="0" err="1">
                <a:latin typeface="Century Gothic" panose="020B0502020202020204" pitchFamily="34" charset="0"/>
              </a:rPr>
              <a:t>Shivjeet</a:t>
            </a:r>
            <a:r>
              <a:rPr lang="en-IN" sz="1200" dirty="0">
                <a:latin typeface="Century Gothic" panose="020B0502020202020204" pitchFamily="34" charset="0"/>
              </a:rPr>
              <a:t> Potdar is an architect, filmmaker, and self-taught artist whose practice explores consciousness, perception, duality, and the relationship between the inner and outer worlds.</a:t>
            </a:r>
          </a:p>
          <a:p>
            <a:pPr algn="just"/>
            <a:r>
              <a:rPr lang="en-IN" sz="1200" dirty="0">
                <a:latin typeface="Century Gothic" panose="020B0502020202020204" pitchFamily="34" charset="0"/>
              </a:rPr>
              <a:t>Trained in architecture at RV College of Architecture, Bengaluru, and in Production Design at the Film and Television Institute of India (FTII), Pune, </a:t>
            </a:r>
            <a:r>
              <a:rPr lang="en-IN" sz="1200" dirty="0" err="1">
                <a:latin typeface="Century Gothic" panose="020B0502020202020204" pitchFamily="34" charset="0"/>
              </a:rPr>
              <a:t>Shivjeet</a:t>
            </a:r>
            <a:r>
              <a:rPr lang="en-IN" sz="1200" dirty="0">
                <a:latin typeface="Century Gothic" panose="020B0502020202020204" pitchFamily="34" charset="0"/>
              </a:rPr>
              <a:t> approaches art through space, form, symbolism, and narrative.</a:t>
            </a:r>
          </a:p>
          <a:p>
            <a:pPr algn="just"/>
            <a:r>
              <a:rPr lang="en-IN" sz="1200" dirty="0">
                <a:latin typeface="Century Gothic" panose="020B0502020202020204" pitchFamily="34" charset="0"/>
              </a:rPr>
              <a:t>His paintings often emerge from questions rather than answers — about identity, awareness, existence, and the nature of reality. Drawing from meditation, philosophy, geometry, and everyday human experience, he creates works that invite the viewer not merely to look, but to observe.</a:t>
            </a:r>
          </a:p>
          <a:p>
            <a:pPr algn="just"/>
            <a:r>
              <a:rPr lang="en-IN" sz="1200" dirty="0">
                <a:latin typeface="Century Gothic" panose="020B0502020202020204" pitchFamily="34" charset="0"/>
              </a:rPr>
              <a:t>His practice moves between painting, sculpture, spatial design, and visual storytelling. Whether on canvas, an everyday object, or within a film set, the intention remains the same: to turn attention inward through art.</a:t>
            </a:r>
          </a:p>
          <a:p>
            <a:pPr algn="just"/>
            <a:r>
              <a:rPr lang="en-IN" sz="1200" dirty="0">
                <a:latin typeface="Century Gothic" panose="020B0502020202020204" pitchFamily="34" charset="0"/>
              </a:rPr>
              <a:t>For </a:t>
            </a:r>
            <a:r>
              <a:rPr lang="en-IN" sz="1200" dirty="0" err="1">
                <a:latin typeface="Century Gothic" panose="020B0502020202020204" pitchFamily="34" charset="0"/>
              </a:rPr>
              <a:t>Shivjeet</a:t>
            </a:r>
            <a:r>
              <a:rPr lang="en-IN" sz="1200" dirty="0">
                <a:latin typeface="Century Gothic" panose="020B0502020202020204" pitchFamily="34" charset="0"/>
              </a:rPr>
              <a:t>, art is not simply an object to be seen.</a:t>
            </a:r>
          </a:p>
          <a:p>
            <a:pPr algn="just"/>
            <a:r>
              <a:rPr lang="en-IN" sz="1200" dirty="0">
                <a:latin typeface="Century Gothic" panose="020B0502020202020204" pitchFamily="34" charset="0"/>
              </a:rPr>
              <a:t>It is a space in which awareness can happen.</a:t>
            </a:r>
          </a:p>
          <a:p>
            <a:endParaRPr lang="en-IN" dirty="0">
              <a:latin typeface="Century Gothic" panose="020B0502020202020204" pitchFamily="34" charset="0"/>
            </a:endParaRPr>
          </a:p>
        </p:txBody>
      </p:sp>
      <p:sp>
        <p:nvSpPr>
          <p:cNvPr id="8" name="TextBox 7">
            <a:extLst>
              <a:ext uri="{FF2B5EF4-FFF2-40B4-BE49-F238E27FC236}">
                <a16:creationId xmlns:a16="http://schemas.microsoft.com/office/drawing/2014/main" id="{7F13F61C-93CA-9192-E131-873A8D984D5F}"/>
              </a:ext>
            </a:extLst>
          </p:cNvPr>
          <p:cNvSpPr txBox="1"/>
          <p:nvPr/>
        </p:nvSpPr>
        <p:spPr>
          <a:xfrm>
            <a:off x="169164" y="1369480"/>
            <a:ext cx="6373368" cy="4062651"/>
          </a:xfrm>
          <a:prstGeom prst="rect">
            <a:avLst/>
          </a:prstGeom>
          <a:noFill/>
        </p:spPr>
        <p:txBody>
          <a:bodyPr wrap="square" rtlCol="0">
            <a:spAutoFit/>
          </a:bodyPr>
          <a:lstStyle/>
          <a:p>
            <a:pPr algn="just"/>
            <a:r>
              <a:rPr lang="en-IN" sz="1200" b="1" i="1" dirty="0">
                <a:latin typeface="Century Gothic" panose="020B0502020202020204" pitchFamily="34" charset="0"/>
              </a:rPr>
              <a:t>CONSCIUS OMNIUM</a:t>
            </a:r>
            <a:r>
              <a:rPr lang="en-IN" sz="1200" b="1" dirty="0">
                <a:latin typeface="Century Gothic" panose="020B0502020202020204" pitchFamily="34" charset="0"/>
              </a:rPr>
              <a:t>— Awareness of the Whole</a:t>
            </a:r>
          </a:p>
          <a:p>
            <a:pPr algn="just"/>
            <a:endParaRPr lang="en-IN" sz="1200" dirty="0">
              <a:latin typeface="Century Gothic" panose="020B0502020202020204" pitchFamily="34" charset="0"/>
            </a:endParaRPr>
          </a:p>
          <a:p>
            <a:pPr algn="just"/>
            <a:r>
              <a:rPr lang="en-IN" sz="1200" dirty="0">
                <a:latin typeface="Century Gothic" panose="020B0502020202020204" pitchFamily="34" charset="0"/>
              </a:rPr>
              <a:t>Within the smallest point, the whole is hidden. Within the self, the universe waits to be known.</a:t>
            </a:r>
          </a:p>
          <a:p>
            <a:pPr algn="just"/>
            <a:r>
              <a:rPr lang="en-IN" sz="1200" dirty="0">
                <a:latin typeface="Century Gothic" panose="020B0502020202020204" pitchFamily="34" charset="0"/>
              </a:rPr>
              <a:t>Art is a way of entering that space. Painting, dance, music, architecture—each becomes a language for looking inward, going deeper, and awakening to what connects everything.</a:t>
            </a:r>
          </a:p>
          <a:p>
            <a:pPr algn="just"/>
            <a:r>
              <a:rPr lang="en-IN" sz="1200" dirty="0">
                <a:latin typeface="Century Gothic" panose="020B0502020202020204" pitchFamily="34" charset="0"/>
              </a:rPr>
              <a:t>Art is rebellion. It questions the reality we inherit, breaks through </a:t>
            </a:r>
            <a:r>
              <a:rPr lang="en-IN" sz="1200" i="1" dirty="0">
                <a:latin typeface="Century Gothic" panose="020B0502020202020204" pitchFamily="34" charset="0"/>
              </a:rPr>
              <a:t>Maya</a:t>
            </a:r>
            <a:r>
              <a:rPr lang="en-IN" sz="1200" dirty="0">
                <a:latin typeface="Century Gothic" panose="020B0502020202020204" pitchFamily="34" charset="0"/>
              </a:rPr>
              <a:t>, and opens a passage into what lies beyond the familiar.</a:t>
            </a:r>
          </a:p>
          <a:p>
            <a:pPr algn="just"/>
            <a:r>
              <a:rPr lang="en-IN" sz="1200" dirty="0">
                <a:latin typeface="Century Gothic" panose="020B0502020202020204" pitchFamily="34" charset="0"/>
              </a:rPr>
              <a:t>When creation becomes meditation, art becomes a path to higher knowing. Every work is an exploration of consciousness and a step towards the </a:t>
            </a:r>
            <a:r>
              <a:rPr lang="en-IN" sz="1200" b="1" dirty="0">
                <a:latin typeface="Century Gothic" panose="020B0502020202020204" pitchFamily="34" charset="0"/>
              </a:rPr>
              <a:t>Ultimate Artwork</a:t>
            </a:r>
            <a:r>
              <a:rPr lang="en-IN" sz="1200" dirty="0">
                <a:latin typeface="Century Gothic" panose="020B0502020202020204" pitchFamily="34" charset="0"/>
              </a:rPr>
              <a:t>—a creation that does not represent awareness, but embodies it; a work that needs no explanation, where the observer does not merely see, but experiences.</a:t>
            </a:r>
          </a:p>
          <a:p>
            <a:pPr algn="just"/>
            <a:r>
              <a:rPr lang="en-IN" sz="1200" dirty="0">
                <a:latin typeface="Century Gothic" panose="020B0502020202020204" pitchFamily="34" charset="0"/>
              </a:rPr>
              <a:t>Such a work becomes a portal: awareness expressed through form.</a:t>
            </a:r>
          </a:p>
          <a:p>
            <a:pPr algn="just"/>
            <a:r>
              <a:rPr lang="en-IN" sz="1200" dirty="0">
                <a:latin typeface="Century Gothic" panose="020B0502020202020204" pitchFamily="34" charset="0"/>
              </a:rPr>
              <a:t>Every creation is a trace of this possibility. Just as a building exists first as an idea before taking form, the unseen precedes the seen. Each artwork becomes a footprint of what is yet to emerge.</a:t>
            </a:r>
          </a:p>
          <a:p>
            <a:pPr algn="just"/>
            <a:r>
              <a:rPr lang="en-IN" sz="1200" dirty="0">
                <a:latin typeface="Century Gothic" panose="020B0502020202020204" pitchFamily="34" charset="0"/>
              </a:rPr>
              <a:t>Different forms. Different questions. One pursuit: </a:t>
            </a:r>
            <a:r>
              <a:rPr lang="en-IN" sz="1200" b="1" dirty="0">
                <a:latin typeface="Century Gothic" panose="020B0502020202020204" pitchFamily="34" charset="0"/>
              </a:rPr>
              <a:t>from perception to knowing, from the individual to the whole, from form to awareness.</a:t>
            </a:r>
            <a:endParaRPr lang="en-IN" sz="1200" dirty="0">
              <a:latin typeface="Century Gothic" panose="020B0502020202020204" pitchFamily="34" charset="0"/>
            </a:endParaRPr>
          </a:p>
          <a:p>
            <a:pPr algn="just"/>
            <a:r>
              <a:rPr lang="en-IN" sz="1200" dirty="0">
                <a:latin typeface="Century Gothic" panose="020B0502020202020204" pitchFamily="34" charset="0"/>
              </a:rPr>
              <a:t>This is the work of Conscious Omnium.</a:t>
            </a:r>
          </a:p>
          <a:p>
            <a:endParaRPr lang="en-IN" dirty="0">
              <a:latin typeface="Century Gothic" panose="020B0502020202020204" pitchFamily="34" charset="0"/>
            </a:endParaRPr>
          </a:p>
        </p:txBody>
      </p:sp>
    </p:spTree>
    <p:extLst>
      <p:ext uri="{BB962C8B-B14F-4D97-AF65-F5344CB8AC3E}">
        <p14:creationId xmlns:p14="http://schemas.microsoft.com/office/powerpoint/2010/main" val="1757651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847C-CD9E-4210-7A35-B86F9B267003}"/>
            </a:ext>
          </a:extLst>
        </p:cNvPr>
        <p:cNvGrpSpPr/>
        <p:nvPr/>
      </p:nvGrpSpPr>
      <p:grpSpPr>
        <a:xfrm>
          <a:off x="0" y="0"/>
          <a:ext cx="0" cy="0"/>
          <a:chOff x="0" y="0"/>
          <a:chExt cx="0" cy="0"/>
        </a:xfrm>
      </p:grpSpPr>
    </p:spTree>
    <p:extLst>
      <p:ext uri="{BB962C8B-B14F-4D97-AF65-F5344CB8AC3E}">
        <p14:creationId xmlns:p14="http://schemas.microsoft.com/office/powerpoint/2010/main" val="2575686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68B1-D96A-0E2D-93ED-D630B392012C}"/>
            </a:ext>
          </a:extLst>
        </p:cNvPr>
        <p:cNvGrpSpPr/>
        <p:nvPr/>
      </p:nvGrpSpPr>
      <p:grpSpPr>
        <a:xfrm>
          <a:off x="0" y="0"/>
          <a:ext cx="0" cy="0"/>
          <a:chOff x="0" y="0"/>
          <a:chExt cx="0" cy="0"/>
        </a:xfrm>
      </p:grpSpPr>
    </p:spTree>
    <p:extLst>
      <p:ext uri="{BB962C8B-B14F-4D97-AF65-F5344CB8AC3E}">
        <p14:creationId xmlns:p14="http://schemas.microsoft.com/office/powerpoint/2010/main" val="2368454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A35F-B54A-C3A8-8C63-9BDCB849F44F}"/>
            </a:ext>
          </a:extLst>
        </p:cNvPr>
        <p:cNvGrpSpPr/>
        <p:nvPr/>
      </p:nvGrpSpPr>
      <p:grpSpPr>
        <a:xfrm>
          <a:off x="0" y="0"/>
          <a:ext cx="0" cy="0"/>
          <a:chOff x="0" y="0"/>
          <a:chExt cx="0" cy="0"/>
        </a:xfrm>
      </p:grpSpPr>
    </p:spTree>
    <p:extLst>
      <p:ext uri="{BB962C8B-B14F-4D97-AF65-F5344CB8AC3E}">
        <p14:creationId xmlns:p14="http://schemas.microsoft.com/office/powerpoint/2010/main" val="3327411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88EBA-E422-775A-5729-5C8BA8281D80}"/>
            </a:ext>
          </a:extLst>
        </p:cNvPr>
        <p:cNvGrpSpPr/>
        <p:nvPr/>
      </p:nvGrpSpPr>
      <p:grpSpPr>
        <a:xfrm>
          <a:off x="0" y="0"/>
          <a:ext cx="0" cy="0"/>
          <a:chOff x="0" y="0"/>
          <a:chExt cx="0" cy="0"/>
        </a:xfrm>
      </p:grpSpPr>
    </p:spTree>
    <p:extLst>
      <p:ext uri="{BB962C8B-B14F-4D97-AF65-F5344CB8AC3E}">
        <p14:creationId xmlns:p14="http://schemas.microsoft.com/office/powerpoint/2010/main" val="1130531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04E3-93A6-08AF-54DD-7D0039CA07F9}"/>
            </a:ext>
          </a:extLst>
        </p:cNvPr>
        <p:cNvGrpSpPr/>
        <p:nvPr/>
      </p:nvGrpSpPr>
      <p:grpSpPr>
        <a:xfrm>
          <a:off x="0" y="0"/>
          <a:ext cx="0" cy="0"/>
          <a:chOff x="0" y="0"/>
          <a:chExt cx="0" cy="0"/>
        </a:xfrm>
      </p:grpSpPr>
    </p:spTree>
    <p:extLst>
      <p:ext uri="{BB962C8B-B14F-4D97-AF65-F5344CB8AC3E}">
        <p14:creationId xmlns:p14="http://schemas.microsoft.com/office/powerpoint/2010/main" val="4198408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59AF-7B6B-4332-1FD6-93BA3FAC1110}"/>
            </a:ext>
          </a:extLst>
        </p:cNvPr>
        <p:cNvGrpSpPr/>
        <p:nvPr/>
      </p:nvGrpSpPr>
      <p:grpSpPr>
        <a:xfrm>
          <a:off x="0" y="0"/>
          <a:ext cx="0" cy="0"/>
          <a:chOff x="0" y="0"/>
          <a:chExt cx="0" cy="0"/>
        </a:xfrm>
      </p:grpSpPr>
    </p:spTree>
    <p:extLst>
      <p:ext uri="{BB962C8B-B14F-4D97-AF65-F5344CB8AC3E}">
        <p14:creationId xmlns:p14="http://schemas.microsoft.com/office/powerpoint/2010/main" val="68030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2F682-1509-1E1C-15A4-E6605D84A62D}"/>
            </a:ext>
          </a:extLst>
        </p:cNvPr>
        <p:cNvGrpSpPr/>
        <p:nvPr/>
      </p:nvGrpSpPr>
      <p:grpSpPr>
        <a:xfrm>
          <a:off x="0" y="0"/>
          <a:ext cx="0" cy="0"/>
          <a:chOff x="0" y="0"/>
          <a:chExt cx="0" cy="0"/>
        </a:xfrm>
      </p:grpSpPr>
    </p:spTree>
    <p:extLst>
      <p:ext uri="{BB962C8B-B14F-4D97-AF65-F5344CB8AC3E}">
        <p14:creationId xmlns:p14="http://schemas.microsoft.com/office/powerpoint/2010/main" val="17035679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110</TotalTime>
  <Words>431</Words>
  <Application>Microsoft Office PowerPoint</Application>
  <PresentationFormat>A4 Paper (210x297 mm)</PresentationFormat>
  <Paragraphs>21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SHIVJEET POTDAR</dc:creator>
  <cp:lastModifiedBy>SHIVJEET POTDAR</cp:lastModifiedBy>
  <cp:revision>2</cp:revision>
  <dcterms:created xsi:type="dcterms:W3CDTF">2026-09-03T16:30:22Z</dcterms:created>
  <dcterms:modified xsi:type="dcterms:W3CDTF">2026-09-03T18:20:24Z</dcterms:modified>
</cp:coreProperties>
</file>